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Path 1 Setup 체크. Capture 8000 + Src 200 + Net 200 = 8400, Launch 0 + 200 + 200 = 400. Required = 8400 - 110 - 100 = 8190. Slack = 8190 - 400 - 5660 = 2130.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2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Timing check: Setup 경로의 시간 구성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8A"/>
                </a:solidFill>
              </a:rPr>
              <a:t>07_MAIN_CLOCK_post_syn_opt.rpt · Path 1 · uut6/r_ibrd_reg_0/CKN → uut2/r_count_reg_2/D · 단위 ps</a:t>
            </a:r>
            <a:endParaRPr lang="en-US" sz="1200" dirty="0"/>
          </a:p>
        </p:txBody>
      </p:sp>
      <p:sp>
        <p:nvSpPr>
          <p:cNvPr id="4" name="guide 0"/>
          <p:cNvSpPr/>
          <p:nvPr/>
        </p:nvSpPr>
        <p:spPr>
          <a:xfrm>
            <a:off x="2011680" y="1508760"/>
            <a:ext cx="0" cy="3383280"/>
          </a:xfrm>
          <a:prstGeom prst="line">
            <a:avLst/>
          </a:prstGeom>
          <a:noFill/>
          <a:ln w="12700">
            <a:solidFill>
              <a:srgbClr val="8A94A8"/>
            </a:solidFill>
            <a:prstDash val="dash"/>
          </a:ln>
        </p:spPr>
      </p:sp>
      <p:sp>
        <p:nvSpPr>
          <p:cNvPr id="5" name="guide 400"/>
          <p:cNvSpPr/>
          <p:nvPr/>
        </p:nvSpPr>
        <p:spPr>
          <a:xfrm>
            <a:off x="2446289" y="1508760"/>
            <a:ext cx="0" cy="3383280"/>
          </a:xfrm>
          <a:prstGeom prst="line">
            <a:avLst/>
          </a:prstGeom>
          <a:noFill/>
          <a:ln w="12700">
            <a:solidFill>
              <a:srgbClr val="1C2F66"/>
            </a:solidFill>
            <a:prstDash val="dash"/>
          </a:ln>
        </p:spPr>
      </p:sp>
      <p:sp>
        <p:nvSpPr>
          <p:cNvPr id="6" name="guide 6060"/>
          <p:cNvSpPr/>
          <p:nvPr/>
        </p:nvSpPr>
        <p:spPr>
          <a:xfrm>
            <a:off x="8596005" y="1508760"/>
            <a:ext cx="0" cy="3383280"/>
          </a:xfrm>
          <a:prstGeom prst="line">
            <a:avLst/>
          </a:prstGeom>
          <a:noFill/>
          <a:ln w="12700">
            <a:solidFill>
              <a:srgbClr val="2B6CB0"/>
            </a:solidFill>
            <a:prstDash val="dash"/>
          </a:ln>
        </p:spPr>
      </p:sp>
      <p:sp>
        <p:nvSpPr>
          <p:cNvPr id="7" name="guide 8000"/>
          <p:cNvSpPr/>
          <p:nvPr/>
        </p:nvSpPr>
        <p:spPr>
          <a:xfrm>
            <a:off x="10703859" y="1508760"/>
            <a:ext cx="0" cy="3383280"/>
          </a:xfrm>
          <a:prstGeom prst="line">
            <a:avLst/>
          </a:prstGeom>
          <a:noFill/>
          <a:ln w="12700">
            <a:solidFill>
              <a:srgbClr val="8A94A8"/>
            </a:solidFill>
            <a:prstDash val="dash"/>
          </a:ln>
        </p:spPr>
      </p:sp>
      <p:sp>
        <p:nvSpPr>
          <p:cNvPr id="8" name="guide 8190"/>
          <p:cNvSpPr/>
          <p:nvPr/>
        </p:nvSpPr>
        <p:spPr>
          <a:xfrm>
            <a:off x="10910298" y="1508760"/>
            <a:ext cx="0" cy="3383280"/>
          </a:xfrm>
          <a:prstGeom prst="line">
            <a:avLst/>
          </a:prstGeom>
          <a:noFill/>
          <a:ln w="12700">
            <a:solidFill>
              <a:srgbClr val="2F7D4F"/>
            </a:solidFill>
            <a:prstDash val="dash"/>
          </a:ln>
        </p:spPr>
      </p:sp>
      <p:sp>
        <p:nvSpPr>
          <p:cNvPr id="9" name="guide 8400"/>
          <p:cNvSpPr/>
          <p:nvPr/>
        </p:nvSpPr>
        <p:spPr>
          <a:xfrm>
            <a:off x="11138468" y="1508760"/>
            <a:ext cx="0" cy="3383280"/>
          </a:xfrm>
          <a:prstGeom prst="line">
            <a:avLst/>
          </a:prstGeom>
          <a:noFill/>
          <a:ln w="12700">
            <a:solidFill>
              <a:srgbClr val="1C2F66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457200" y="16276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240"/>
                </a:solidFill>
              </a:rPr>
              <a:t>이상적 클록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9019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D6B8A"/>
                </a:solidFill>
              </a:rPr>
              <a:t>Clock Edge 0 / 8000</a:t>
            </a:r>
            <a:endParaRPr lang="en-US" sz="1000" dirty="0"/>
          </a:p>
        </p:txBody>
      </p:sp>
      <p:sp>
        <p:nvSpPr>
          <p:cNvPr id="12" name="ideal clock"/>
          <p:cNvSpPr/>
          <p:nvPr/>
        </p:nvSpPr>
        <p:spPr>
          <a:xfrm>
            <a:off x="1740049" y="2057400"/>
            <a:ext cx="271631" cy="0"/>
          </a:xfrm>
          <a:prstGeom prst="line">
            <a:avLst/>
          </a:prstGeom>
          <a:noFill/>
          <a:ln w="25400">
            <a:solidFill>
              <a:srgbClr val="8A94A8"/>
            </a:solidFill>
            <a:prstDash val="solid"/>
          </a:ln>
        </p:spPr>
      </p:sp>
      <p:sp>
        <p:nvSpPr>
          <p:cNvPr id="13" name="ideal clock"/>
          <p:cNvSpPr/>
          <p:nvPr/>
        </p:nvSpPr>
        <p:spPr>
          <a:xfrm>
            <a:off x="2011680" y="1691640"/>
            <a:ext cx="0" cy="365760"/>
          </a:xfrm>
          <a:prstGeom prst="line">
            <a:avLst/>
          </a:prstGeom>
          <a:noFill/>
          <a:ln w="25400">
            <a:solidFill>
              <a:srgbClr val="8A94A8"/>
            </a:solidFill>
            <a:prstDash val="solid"/>
          </a:ln>
        </p:spPr>
      </p:sp>
      <p:sp>
        <p:nvSpPr>
          <p:cNvPr id="14" name="ideal clock"/>
          <p:cNvSpPr/>
          <p:nvPr/>
        </p:nvSpPr>
        <p:spPr>
          <a:xfrm>
            <a:off x="2011680" y="1691640"/>
            <a:ext cx="4346089" cy="0"/>
          </a:xfrm>
          <a:prstGeom prst="line">
            <a:avLst/>
          </a:prstGeom>
          <a:noFill/>
          <a:ln w="25400">
            <a:solidFill>
              <a:srgbClr val="8A94A8"/>
            </a:solidFill>
            <a:prstDash val="solid"/>
          </a:ln>
        </p:spPr>
      </p:sp>
      <p:sp>
        <p:nvSpPr>
          <p:cNvPr id="15" name="ideal clock"/>
          <p:cNvSpPr/>
          <p:nvPr/>
        </p:nvSpPr>
        <p:spPr>
          <a:xfrm>
            <a:off x="6357769" y="1691640"/>
            <a:ext cx="0" cy="365760"/>
          </a:xfrm>
          <a:prstGeom prst="line">
            <a:avLst/>
          </a:prstGeom>
          <a:noFill/>
          <a:ln w="25400">
            <a:solidFill>
              <a:srgbClr val="8A94A8"/>
            </a:solidFill>
            <a:prstDash val="solid"/>
          </a:ln>
        </p:spPr>
      </p:sp>
      <p:sp>
        <p:nvSpPr>
          <p:cNvPr id="16" name="ideal clock"/>
          <p:cNvSpPr/>
          <p:nvPr/>
        </p:nvSpPr>
        <p:spPr>
          <a:xfrm>
            <a:off x="6357769" y="2057400"/>
            <a:ext cx="4346089" cy="0"/>
          </a:xfrm>
          <a:prstGeom prst="line">
            <a:avLst/>
          </a:prstGeom>
          <a:noFill/>
          <a:ln w="25400">
            <a:solidFill>
              <a:srgbClr val="8A94A8"/>
            </a:solidFill>
            <a:prstDash val="solid"/>
          </a:ln>
        </p:spPr>
      </p:sp>
      <p:sp>
        <p:nvSpPr>
          <p:cNvPr id="17" name="ideal clock"/>
          <p:cNvSpPr/>
          <p:nvPr/>
        </p:nvSpPr>
        <p:spPr>
          <a:xfrm>
            <a:off x="10703859" y="1691640"/>
            <a:ext cx="0" cy="365760"/>
          </a:xfrm>
          <a:prstGeom prst="line">
            <a:avLst/>
          </a:prstGeom>
          <a:noFill/>
          <a:ln w="25400">
            <a:solidFill>
              <a:srgbClr val="8A94A8"/>
            </a:solidFill>
            <a:prstDash val="solid"/>
          </a:ln>
        </p:spPr>
      </p:sp>
      <p:sp>
        <p:nvSpPr>
          <p:cNvPr id="18" name="ideal clock"/>
          <p:cNvSpPr/>
          <p:nvPr/>
        </p:nvSpPr>
        <p:spPr>
          <a:xfrm>
            <a:off x="10703859" y="1691640"/>
            <a:ext cx="543261" cy="0"/>
          </a:xfrm>
          <a:prstGeom prst="line">
            <a:avLst/>
          </a:prstGeom>
          <a:noFill/>
          <a:ln w="25400">
            <a:solidFill>
              <a:srgbClr val="8A94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5420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240"/>
                </a:solidFill>
              </a:rPr>
              <a:t>FF 클록 핀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8163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D6B8A"/>
                </a:solidFill>
              </a:rPr>
              <a:t>Latency 반영</a:t>
            </a:r>
            <a:endParaRPr lang="en-US" sz="1000" dirty="0"/>
          </a:p>
        </p:txBody>
      </p:sp>
      <p:sp>
        <p:nvSpPr>
          <p:cNvPr id="21" name="real clock"/>
          <p:cNvSpPr/>
          <p:nvPr/>
        </p:nvSpPr>
        <p:spPr>
          <a:xfrm>
            <a:off x="2174658" y="2971800"/>
            <a:ext cx="271631" cy="0"/>
          </a:xfrm>
          <a:prstGeom prst="line">
            <a:avLst/>
          </a:prstGeom>
          <a:noFill/>
          <a:ln w="28575">
            <a:solidFill>
              <a:srgbClr val="1C2F66"/>
            </a:solidFill>
            <a:prstDash val="solid"/>
          </a:ln>
        </p:spPr>
      </p:sp>
      <p:sp>
        <p:nvSpPr>
          <p:cNvPr id="22" name="real clock"/>
          <p:cNvSpPr/>
          <p:nvPr/>
        </p:nvSpPr>
        <p:spPr>
          <a:xfrm>
            <a:off x="2446289" y="2606040"/>
            <a:ext cx="0" cy="365760"/>
          </a:xfrm>
          <a:prstGeom prst="line">
            <a:avLst/>
          </a:prstGeom>
          <a:noFill/>
          <a:ln w="28575">
            <a:solidFill>
              <a:srgbClr val="1C2F66"/>
            </a:solidFill>
            <a:prstDash val="solid"/>
          </a:ln>
        </p:spPr>
      </p:sp>
      <p:sp>
        <p:nvSpPr>
          <p:cNvPr id="23" name="real clock"/>
          <p:cNvSpPr/>
          <p:nvPr/>
        </p:nvSpPr>
        <p:spPr>
          <a:xfrm>
            <a:off x="2446289" y="2606040"/>
            <a:ext cx="4346089" cy="0"/>
          </a:xfrm>
          <a:prstGeom prst="line">
            <a:avLst/>
          </a:prstGeom>
          <a:noFill/>
          <a:ln w="28575">
            <a:solidFill>
              <a:srgbClr val="1C2F66"/>
            </a:solidFill>
            <a:prstDash val="solid"/>
          </a:ln>
        </p:spPr>
      </p:sp>
      <p:sp>
        <p:nvSpPr>
          <p:cNvPr id="24" name="real clock"/>
          <p:cNvSpPr/>
          <p:nvPr/>
        </p:nvSpPr>
        <p:spPr>
          <a:xfrm>
            <a:off x="6792378" y="2606040"/>
            <a:ext cx="0" cy="365760"/>
          </a:xfrm>
          <a:prstGeom prst="line">
            <a:avLst/>
          </a:prstGeom>
          <a:noFill/>
          <a:ln w="28575">
            <a:solidFill>
              <a:srgbClr val="1C2F66"/>
            </a:solidFill>
            <a:prstDash val="solid"/>
          </a:ln>
        </p:spPr>
      </p:sp>
      <p:sp>
        <p:nvSpPr>
          <p:cNvPr id="25" name="real clock"/>
          <p:cNvSpPr/>
          <p:nvPr/>
        </p:nvSpPr>
        <p:spPr>
          <a:xfrm>
            <a:off x="6792378" y="2971800"/>
            <a:ext cx="4346089" cy="0"/>
          </a:xfrm>
          <a:prstGeom prst="line">
            <a:avLst/>
          </a:prstGeom>
          <a:noFill/>
          <a:ln w="28575">
            <a:solidFill>
              <a:srgbClr val="1C2F66"/>
            </a:solidFill>
            <a:prstDash val="solid"/>
          </a:ln>
        </p:spPr>
      </p:sp>
      <p:sp>
        <p:nvSpPr>
          <p:cNvPr id="26" name="real clock"/>
          <p:cNvSpPr/>
          <p:nvPr/>
        </p:nvSpPr>
        <p:spPr>
          <a:xfrm>
            <a:off x="11138468" y="2606040"/>
            <a:ext cx="0" cy="365760"/>
          </a:xfrm>
          <a:prstGeom prst="line">
            <a:avLst/>
          </a:prstGeom>
          <a:noFill/>
          <a:ln w="28575">
            <a:solidFill>
              <a:srgbClr val="1C2F66"/>
            </a:solidFill>
            <a:prstDash val="solid"/>
          </a:ln>
        </p:spPr>
      </p:sp>
      <p:sp>
        <p:nvSpPr>
          <p:cNvPr id="27" name="real clock"/>
          <p:cNvSpPr/>
          <p:nvPr/>
        </p:nvSpPr>
        <p:spPr>
          <a:xfrm>
            <a:off x="11138468" y="2606040"/>
            <a:ext cx="434609" cy="0"/>
          </a:xfrm>
          <a:prstGeom prst="line">
            <a:avLst/>
          </a:prstGeom>
          <a:noFill/>
          <a:ln w="28575">
            <a:solidFill>
              <a:srgbClr val="1C2F66"/>
            </a:solidFill>
            <a:prstDash val="solid"/>
          </a:ln>
        </p:spPr>
      </p:sp>
      <p:sp>
        <p:nvSpPr>
          <p:cNvPr id="28" name="latency launch"/>
          <p:cNvSpPr/>
          <p:nvPr/>
        </p:nvSpPr>
        <p:spPr>
          <a:xfrm>
            <a:off x="2011680" y="2331720"/>
            <a:ext cx="434609" cy="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triangle"/>
            <a:tailEnd type="triangle"/>
          </a:ln>
        </p:spPr>
      </p:sp>
      <p:sp>
        <p:nvSpPr>
          <p:cNvPr id="29" name="latency capture"/>
          <p:cNvSpPr/>
          <p:nvPr/>
        </p:nvSpPr>
        <p:spPr>
          <a:xfrm>
            <a:off x="10703859" y="2331720"/>
            <a:ext cx="434609" cy="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triangle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2556017" y="22128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Latency 400 = Src 200 + Net 200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350547" y="22128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Latency 400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3101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240"/>
                </a:solidFill>
              </a:rPr>
              <a:t>데이터 도착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35844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D6B8A"/>
                </a:solidFill>
              </a:rPr>
              <a:t>Arrival 400 → 6060</a:t>
            </a:r>
            <a:endParaRPr lang="en-US" sz="1000" dirty="0"/>
          </a:p>
        </p:txBody>
      </p:sp>
      <p:sp>
        <p:nvSpPr>
          <p:cNvPr id="34" name="launch clock bar"/>
          <p:cNvSpPr/>
          <p:nvPr/>
        </p:nvSpPr>
        <p:spPr>
          <a:xfrm>
            <a:off x="2011680" y="3310128"/>
            <a:ext cx="434609" cy="457200"/>
          </a:xfrm>
          <a:prstGeom prst="rect">
            <a:avLst/>
          </a:prstGeom>
          <a:solidFill>
            <a:srgbClr val="C3CADA"/>
          </a:solidFill>
          <a:ln w="9525">
            <a:solidFill>
              <a:srgbClr val="8A94A8"/>
            </a:solidFill>
            <a:prstDash val="solid"/>
          </a:ln>
        </p:spPr>
      </p:sp>
      <p:sp>
        <p:nvSpPr>
          <p:cNvPr id="35" name="data path bar"/>
          <p:cNvSpPr/>
          <p:nvPr/>
        </p:nvSpPr>
        <p:spPr>
          <a:xfrm>
            <a:off x="2446289" y="3310128"/>
            <a:ext cx="6149717" cy="457200"/>
          </a:xfrm>
          <a:prstGeom prst="rect">
            <a:avLst/>
          </a:prstGeom>
          <a:solidFill>
            <a:srgbClr val="2B6CB0"/>
          </a:solidFill>
          <a:ln w="9525">
            <a:solidFill>
              <a:srgbClr val="2B6CB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583449" y="3310128"/>
            <a:ext cx="58753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Path 5660 (CKN→Q 후 논리 셀 22개 → D)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2556017" y="380390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6B8A"/>
                </a:solidFill>
              </a:rPr>
              <a:t>Launch Clock 400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160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240"/>
                </a:solidFill>
              </a:rPr>
              <a:t>Required Time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4348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D6B8A"/>
                </a:solidFill>
              </a:rPr>
              <a:t>8400 − 110 − 100</a:t>
            </a:r>
            <a:endParaRPr lang="en-US" sz="1000" dirty="0"/>
          </a:p>
        </p:txBody>
      </p:sp>
      <p:sp>
        <p:nvSpPr>
          <p:cNvPr id="40" name="slack bar"/>
          <p:cNvSpPr/>
          <p:nvPr/>
        </p:nvSpPr>
        <p:spPr>
          <a:xfrm>
            <a:off x="8596005" y="4160520"/>
            <a:ext cx="2314293" cy="457200"/>
          </a:xfrm>
          <a:prstGeom prst="rect">
            <a:avLst/>
          </a:prstGeom>
          <a:solidFill>
            <a:srgbClr val="2F7D4F"/>
          </a:solidFill>
          <a:ln w="9525">
            <a:solidFill>
              <a:srgbClr val="2F7D4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596005" y="4160520"/>
            <a:ext cx="2314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Slack 2130 (MET)</a:t>
            </a:r>
            <a:endParaRPr lang="en-US" sz="1400" dirty="0"/>
          </a:p>
        </p:txBody>
      </p:sp>
      <p:sp>
        <p:nvSpPr>
          <p:cNvPr id="42" name="uncertainty bar"/>
          <p:cNvSpPr/>
          <p:nvPr/>
        </p:nvSpPr>
        <p:spPr>
          <a:xfrm>
            <a:off x="10910298" y="4160520"/>
            <a:ext cx="108652" cy="457200"/>
          </a:xfrm>
          <a:prstGeom prst="rect">
            <a:avLst/>
          </a:prstGeom>
          <a:solidFill>
            <a:srgbClr val="C2410C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43" name="setup bar"/>
          <p:cNvSpPr/>
          <p:nvPr/>
        </p:nvSpPr>
        <p:spPr>
          <a:xfrm>
            <a:off x="11018950" y="4160520"/>
            <a:ext cx="119517" cy="457200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4" name="unc leader"/>
          <p:cNvSpPr/>
          <p:nvPr/>
        </p:nvSpPr>
        <p:spPr>
          <a:xfrm>
            <a:off x="10964624" y="3904488"/>
            <a:ext cx="0" cy="256032"/>
          </a:xfrm>
          <a:prstGeom prst="line">
            <a:avLst/>
          </a:prstGeom>
          <a:noFill/>
          <a:ln w="15875">
            <a:solidFill>
              <a:srgbClr val="C2410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227264" y="36850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2410C"/>
                </a:solidFill>
              </a:rPr>
              <a:t>Uncertainty 100</a:t>
            </a:r>
            <a:endParaRPr lang="en-US" sz="1100" dirty="0"/>
          </a:p>
        </p:txBody>
      </p:sp>
      <p:sp>
        <p:nvSpPr>
          <p:cNvPr id="46" name="setup leader"/>
          <p:cNvSpPr/>
          <p:nvPr/>
        </p:nvSpPr>
        <p:spPr>
          <a:xfrm>
            <a:off x="11078709" y="3657600"/>
            <a:ext cx="0" cy="502920"/>
          </a:xfrm>
          <a:prstGeom prst="line">
            <a:avLst/>
          </a:prstGeom>
          <a:noFill/>
          <a:ln w="15875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981429" y="34381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Setup 110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1783080" y="49377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4A8"/>
                </a:solidFill>
              </a:rPr>
              <a:t>0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2217689" y="49377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F66"/>
                </a:solidFill>
              </a:rPr>
              <a:t>400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8275965" y="49377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6CB0"/>
                </a:solidFill>
              </a:rPr>
              <a:t>6060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10429539" y="49377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4A8"/>
                </a:solidFill>
              </a:rPr>
              <a:t>8000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10635978" y="51572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7D4F"/>
                </a:solidFill>
              </a:rPr>
              <a:t>8190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10864148" y="49377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F66"/>
                </a:solidFill>
              </a:rPr>
              <a:t>8400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2537729" y="51572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B8A"/>
                </a:solidFill>
              </a:rPr>
              <a:t>Launch 클록 도착</a:t>
            </a:r>
            <a:endParaRPr lang="en-US" sz="1000" dirty="0"/>
          </a:p>
        </p:txBody>
      </p:sp>
      <p:sp>
        <p:nvSpPr>
          <p:cNvPr id="55" name="card Arrival (데이터)"/>
          <p:cNvSpPr/>
          <p:nvPr/>
        </p:nvSpPr>
        <p:spPr>
          <a:xfrm>
            <a:off x="457200" y="5532120"/>
            <a:ext cx="3611880" cy="868680"/>
          </a:xfrm>
          <a:prstGeom prst="rect">
            <a:avLst/>
          </a:prstGeom>
          <a:solidFill>
            <a:srgbClr val="EEF2FA"/>
          </a:solidFill>
          <a:ln w="9525">
            <a:solidFill>
              <a:srgbClr val="D5DDEE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21792" y="5596128"/>
            <a:ext cx="3282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6CB0"/>
                </a:solidFill>
              </a:rPr>
              <a:t>Arrival (데이터)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621792" y="5806440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40"/>
                </a:solidFill>
              </a:rPr>
              <a:t>400 + 5660 = 6060</a:t>
            </a:r>
            <a:endParaRPr lang="en-US" sz="1800" dirty="0"/>
          </a:p>
        </p:txBody>
      </p:sp>
      <p:sp>
        <p:nvSpPr>
          <p:cNvPr id="58" name="Text 56"/>
          <p:cNvSpPr txBox="1"/>
          <p:nvPr/>
        </p:nvSpPr>
        <p:spPr>
          <a:xfrm>
            <a:off x="621792" y="6126480"/>
            <a:ext cx="3282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A"/>
                </a:solidFill>
              </a:rPr>
              <a:t>Launch Clock 400 + Data Path 5660</a:t>
            </a:r>
            <a:endParaRPr lang="en-US" sz="1000" dirty="0"/>
          </a:p>
        </p:txBody>
      </p:sp>
      <p:sp>
        <p:nvSpPr>
          <p:cNvPr id="59" name="card Required Time"/>
          <p:cNvSpPr/>
          <p:nvPr/>
        </p:nvSpPr>
        <p:spPr>
          <a:xfrm>
            <a:off x="4288536" y="5532120"/>
            <a:ext cx="3611880" cy="868680"/>
          </a:xfrm>
          <a:prstGeom prst="rect">
            <a:avLst/>
          </a:prstGeom>
          <a:solidFill>
            <a:srgbClr val="EEF2FA"/>
          </a:solidFill>
          <a:ln w="9525">
            <a:solidFill>
              <a:srgbClr val="D5DDEE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453128" y="5596128"/>
            <a:ext cx="3282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F66"/>
                </a:solidFill>
              </a:rPr>
              <a:t>Required Time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4453128" y="5806440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40"/>
                </a:solidFill>
              </a:rPr>
              <a:t>8400 − 110 − 100 = 8190</a:t>
            </a:r>
            <a:endParaRPr lang="en-US" sz="1800" dirty="0"/>
          </a:p>
        </p:txBody>
      </p:sp>
      <p:sp>
        <p:nvSpPr>
          <p:cNvPr id="62" name="Text 60"/>
          <p:cNvSpPr txBox="1"/>
          <p:nvPr/>
        </p:nvSpPr>
        <p:spPr>
          <a:xfrm>
            <a:off x="4453128" y="6126480"/>
            <a:ext cx="3282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A"/>
                </a:solidFill>
              </a:rPr>
              <a:t>Capture 8400 − Setup 110 − Uncertainty 100</a:t>
            </a:r>
            <a:endParaRPr lang="en-US" sz="1000" dirty="0"/>
          </a:p>
        </p:txBody>
      </p:sp>
      <p:sp>
        <p:nvSpPr>
          <p:cNvPr id="63" name="card Slack"/>
          <p:cNvSpPr/>
          <p:nvPr/>
        </p:nvSpPr>
        <p:spPr>
          <a:xfrm>
            <a:off x="8119872" y="5532120"/>
            <a:ext cx="3611880" cy="868680"/>
          </a:xfrm>
          <a:prstGeom prst="rect">
            <a:avLst/>
          </a:prstGeom>
          <a:solidFill>
            <a:srgbClr val="EEF2FA"/>
          </a:solidFill>
          <a:ln w="9525">
            <a:solidFill>
              <a:srgbClr val="D5DDEE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284464" y="5596128"/>
            <a:ext cx="3282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D4F"/>
                </a:solidFill>
              </a:rPr>
              <a:t>Slack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8284464" y="5806440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240"/>
                </a:solidFill>
              </a:rPr>
              <a:t>8190 − 6060 = 2130</a:t>
            </a:r>
            <a:endParaRPr lang="en-US" sz="1800" dirty="0"/>
          </a:p>
        </p:txBody>
      </p:sp>
      <p:sp>
        <p:nvSpPr>
          <p:cNvPr id="66" name="Text 64"/>
          <p:cNvSpPr txBox="1"/>
          <p:nvPr/>
        </p:nvSpPr>
        <p:spPr>
          <a:xfrm>
            <a:off x="8284464" y="6126480"/>
            <a:ext cx="3282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A"/>
                </a:solidFill>
              </a:rPr>
              <a:t>양수라서 MET (위반 없음)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클록 요소: Latency · Uncertainty · Transition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8A"/>
                </a:solidFill>
              </a:rPr>
              <a:t>툴은 이 항목을 입력하지 않으면 0으로 본다. MAIN_CLOCK 주기 8 ns</a:t>
            </a:r>
            <a:endParaRPr lang="en-US" sz="1200" dirty="0"/>
          </a:p>
        </p:txBody>
      </p:sp>
      <p:sp>
        <p:nvSpPr>
          <p:cNvPr id="4" name="card Latency"/>
          <p:cNvSpPr/>
          <p:nvPr/>
        </p:nvSpPr>
        <p:spPr>
          <a:xfrm>
            <a:off x="457200" y="1463040"/>
            <a:ext cx="3611880" cy="4846320"/>
          </a:xfrm>
          <a:prstGeom prst="rect">
            <a:avLst/>
          </a:prstGeom>
          <a:solidFill>
            <a:srgbClr val="EEF2FA"/>
          </a:solidFill>
          <a:ln w="9525">
            <a:solidFill>
              <a:srgbClr val="D5DD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Latency</a:t>
            </a:r>
            <a:pPr indent="0" marL="0">
              <a:buNone/>
            </a:pPr>
            <a:r>
              <a:rPr lang="en-US" sz="1200" dirty="0">
                <a:solidFill>
                  <a:srgbClr val="5D6B8A"/>
                </a:solidFill>
              </a:rPr>
              <a:t>   클록의 지연</a:t>
            </a:r>
            <a:endParaRPr lang="en-US" sz="1400" dirty="0"/>
          </a:p>
        </p:txBody>
      </p:sp>
      <p:sp>
        <p:nvSpPr>
          <p:cNvPr id="6" name="figure Latency"/>
          <p:cNvSpPr/>
          <p:nvPr/>
        </p:nvSpPr>
        <p:spPr>
          <a:xfrm>
            <a:off x="685800" y="2148840"/>
            <a:ext cx="3154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solid"/>
          </a:ln>
        </p:spPr>
      </p:sp>
      <p:sp>
        <p:nvSpPr>
          <p:cNvPr id="7" name="line"/>
          <p:cNvSpPr/>
          <p:nvPr/>
        </p:nvSpPr>
        <p:spPr>
          <a:xfrm>
            <a:off x="868680" y="3200400"/>
            <a:ext cx="457200" cy="0"/>
          </a:xfrm>
          <a:prstGeom prst="line">
            <a:avLst/>
          </a:prstGeom>
          <a:noFill/>
          <a:ln w="25400">
            <a:solidFill>
              <a:srgbClr val="8A94A8"/>
            </a:solidFill>
            <a:prstDash val="solid"/>
          </a:ln>
        </p:spPr>
      </p:sp>
      <p:sp>
        <p:nvSpPr>
          <p:cNvPr id="8" name="line"/>
          <p:cNvSpPr/>
          <p:nvPr/>
        </p:nvSpPr>
        <p:spPr>
          <a:xfrm>
            <a:off x="1325880" y="2514600"/>
            <a:ext cx="0" cy="685800"/>
          </a:xfrm>
          <a:prstGeom prst="line">
            <a:avLst/>
          </a:prstGeom>
          <a:noFill/>
          <a:ln w="25400">
            <a:solidFill>
              <a:srgbClr val="8A94A8"/>
            </a:solidFill>
            <a:prstDash val="solid"/>
          </a:ln>
        </p:spPr>
      </p:sp>
      <p:sp>
        <p:nvSpPr>
          <p:cNvPr id="9" name="line"/>
          <p:cNvSpPr/>
          <p:nvPr/>
        </p:nvSpPr>
        <p:spPr>
          <a:xfrm>
            <a:off x="1325880" y="2514600"/>
            <a:ext cx="731520" cy="0"/>
          </a:xfrm>
          <a:prstGeom prst="line">
            <a:avLst/>
          </a:prstGeom>
          <a:noFill/>
          <a:ln w="25400">
            <a:solidFill>
              <a:srgbClr val="8A94A8"/>
            </a:solidFill>
            <a:prstDash val="solid"/>
          </a:ln>
        </p:spPr>
      </p:sp>
      <p:sp>
        <p:nvSpPr>
          <p:cNvPr id="10" name="line"/>
          <p:cNvSpPr/>
          <p:nvPr/>
        </p:nvSpPr>
        <p:spPr>
          <a:xfrm>
            <a:off x="1783080" y="3200400"/>
            <a:ext cx="457200" cy="0"/>
          </a:xfrm>
          <a:prstGeom prst="line">
            <a:avLst/>
          </a:prstGeom>
          <a:noFill/>
          <a:ln w="28575">
            <a:solidFill>
              <a:srgbClr val="1C2F66"/>
            </a:solidFill>
            <a:prstDash val="solid"/>
          </a:ln>
        </p:spPr>
      </p:sp>
      <p:sp>
        <p:nvSpPr>
          <p:cNvPr id="11" name="line"/>
          <p:cNvSpPr/>
          <p:nvPr/>
        </p:nvSpPr>
        <p:spPr>
          <a:xfrm>
            <a:off x="2240280" y="2514600"/>
            <a:ext cx="0" cy="685800"/>
          </a:xfrm>
          <a:prstGeom prst="line">
            <a:avLst/>
          </a:prstGeom>
          <a:noFill/>
          <a:ln w="28575">
            <a:solidFill>
              <a:srgbClr val="1C2F66"/>
            </a:solidFill>
            <a:prstDash val="solid"/>
          </a:ln>
        </p:spPr>
      </p:sp>
      <p:sp>
        <p:nvSpPr>
          <p:cNvPr id="12" name="line"/>
          <p:cNvSpPr/>
          <p:nvPr/>
        </p:nvSpPr>
        <p:spPr>
          <a:xfrm>
            <a:off x="2240280" y="2514600"/>
            <a:ext cx="1417320" cy="0"/>
          </a:xfrm>
          <a:prstGeom prst="line">
            <a:avLst/>
          </a:prstGeom>
          <a:noFill/>
          <a:ln w="28575">
            <a:solidFill>
              <a:srgbClr val="1C2F66"/>
            </a:solidFill>
            <a:prstDash val="solid"/>
          </a:ln>
        </p:spPr>
      </p:sp>
      <p:sp>
        <p:nvSpPr>
          <p:cNvPr id="13" name="line"/>
          <p:cNvSpPr/>
          <p:nvPr/>
        </p:nvSpPr>
        <p:spPr>
          <a:xfrm>
            <a:off x="1325880" y="2331720"/>
            <a:ext cx="0" cy="868680"/>
          </a:xfrm>
          <a:prstGeom prst="line">
            <a:avLst/>
          </a:prstGeom>
          <a:noFill/>
          <a:ln w="12700">
            <a:solidFill>
              <a:srgbClr val="8A94A8"/>
            </a:solidFill>
            <a:prstDash val="dash"/>
          </a:ln>
        </p:spPr>
      </p:sp>
      <p:sp>
        <p:nvSpPr>
          <p:cNvPr id="14" name="line"/>
          <p:cNvSpPr/>
          <p:nvPr/>
        </p:nvSpPr>
        <p:spPr>
          <a:xfrm>
            <a:off x="2240280" y="2331720"/>
            <a:ext cx="0" cy="868680"/>
          </a:xfrm>
          <a:prstGeom prst="line">
            <a:avLst/>
          </a:prstGeom>
          <a:noFill/>
          <a:ln w="12700">
            <a:solidFill>
              <a:srgbClr val="1C2F66"/>
            </a:solidFill>
            <a:prstDash val="dash"/>
          </a:ln>
        </p:spPr>
      </p:sp>
      <p:sp>
        <p:nvSpPr>
          <p:cNvPr id="15" name="line"/>
          <p:cNvSpPr/>
          <p:nvPr/>
        </p:nvSpPr>
        <p:spPr>
          <a:xfrm>
            <a:off x="1325880" y="2423160"/>
            <a:ext cx="914400" cy="0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headEnd type="triangle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1325880" y="21854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400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2918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B8A"/>
                </a:solidFill>
              </a:rPr>
              <a:t>이상적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057400" y="32918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B8A"/>
                </a:solidFill>
              </a:rPr>
              <a:t>실제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6576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</a:rPr>
              <a:t>400 ps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20624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240"/>
                </a:solidFill>
              </a:rPr>
              <a:t>Source 200 (칩 밖 소스 → 칩)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240"/>
                </a:solidFill>
              </a:rPr>
              <a:t>Network 200 (칩 안 → FF 클록 핀)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240"/>
                </a:solidFill>
              </a:rPr>
              <a:t>launch와 capture에 똑같이 더해져 setup 슬랙은 변하지 않음</a:t>
            </a:r>
            <a:endParaRPr lang="en-US" sz="1300" dirty="0"/>
          </a:p>
        </p:txBody>
      </p:sp>
      <p:sp>
        <p:nvSpPr>
          <p:cNvPr id="21" name="sdc Latency"/>
          <p:cNvSpPr/>
          <p:nvPr/>
        </p:nvSpPr>
        <p:spPr>
          <a:xfrm>
            <a:off x="685800" y="5486400"/>
            <a:ext cx="31546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4864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2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set_clock_latency -source -max 0.2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2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set_clock_latency -max 0.2</a:t>
            </a:r>
            <a:endParaRPr lang="en-US" sz="1000" dirty="0"/>
          </a:p>
        </p:txBody>
      </p:sp>
      <p:sp>
        <p:nvSpPr>
          <p:cNvPr id="23" name="card Uncertainty"/>
          <p:cNvSpPr/>
          <p:nvPr/>
        </p:nvSpPr>
        <p:spPr>
          <a:xfrm>
            <a:off x="4288536" y="1463040"/>
            <a:ext cx="3611880" cy="4846320"/>
          </a:xfrm>
          <a:prstGeom prst="rect">
            <a:avLst/>
          </a:prstGeom>
          <a:solidFill>
            <a:srgbClr val="EEF2FA"/>
          </a:solidFill>
          <a:ln w="9525">
            <a:solidFill>
              <a:srgbClr val="D5DD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17136" y="16002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</a:rPr>
              <a:t>Uncertainty</a:t>
            </a:r>
            <a:pPr indent="0" marL="0">
              <a:buNone/>
            </a:pPr>
            <a:r>
              <a:rPr lang="en-US" sz="1200" dirty="0">
                <a:solidFill>
                  <a:srgbClr val="5D6B8A"/>
                </a:solidFill>
              </a:rPr>
              <a:t>   클록의 불확실성</a:t>
            </a:r>
            <a:endParaRPr lang="en-US" sz="1400" dirty="0"/>
          </a:p>
        </p:txBody>
      </p:sp>
      <p:sp>
        <p:nvSpPr>
          <p:cNvPr id="25" name="figure Uncertainty"/>
          <p:cNvSpPr/>
          <p:nvPr/>
        </p:nvSpPr>
        <p:spPr>
          <a:xfrm>
            <a:off x="4517136" y="2148840"/>
            <a:ext cx="3154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solid"/>
          </a:ln>
        </p:spPr>
      </p:sp>
      <p:sp>
        <p:nvSpPr>
          <p:cNvPr id="26" name="line"/>
          <p:cNvSpPr/>
          <p:nvPr/>
        </p:nvSpPr>
        <p:spPr>
          <a:xfrm>
            <a:off x="4700016" y="3200400"/>
            <a:ext cx="982980" cy="0"/>
          </a:xfrm>
          <a:prstGeom prst="line">
            <a:avLst/>
          </a:prstGeom>
          <a:noFill/>
          <a:ln w="28575">
            <a:solidFill>
              <a:srgbClr val="1C2F66"/>
            </a:solidFill>
            <a:prstDash val="solid"/>
          </a:ln>
        </p:spPr>
      </p:sp>
      <p:sp>
        <p:nvSpPr>
          <p:cNvPr id="27" name="line"/>
          <p:cNvSpPr/>
          <p:nvPr/>
        </p:nvSpPr>
        <p:spPr>
          <a:xfrm>
            <a:off x="5682996" y="2514600"/>
            <a:ext cx="0" cy="685800"/>
          </a:xfrm>
          <a:prstGeom prst="line">
            <a:avLst/>
          </a:prstGeom>
          <a:noFill/>
          <a:ln w="28575">
            <a:solidFill>
              <a:srgbClr val="1C2F66"/>
            </a:solidFill>
            <a:prstDash val="sysDot"/>
          </a:ln>
        </p:spPr>
      </p:sp>
      <p:sp>
        <p:nvSpPr>
          <p:cNvPr id="28" name="line"/>
          <p:cNvSpPr/>
          <p:nvPr/>
        </p:nvSpPr>
        <p:spPr>
          <a:xfrm>
            <a:off x="5682996" y="2514600"/>
            <a:ext cx="228600" cy="0"/>
          </a:xfrm>
          <a:prstGeom prst="line">
            <a:avLst/>
          </a:prstGeom>
          <a:noFill/>
          <a:ln w="28575">
            <a:solidFill>
              <a:srgbClr val="1C2F66"/>
            </a:solidFill>
            <a:prstDash val="solid"/>
          </a:ln>
        </p:spPr>
      </p:sp>
      <p:sp>
        <p:nvSpPr>
          <p:cNvPr id="29" name="uncertainty band"/>
          <p:cNvSpPr/>
          <p:nvPr/>
        </p:nvSpPr>
        <p:spPr>
          <a:xfrm>
            <a:off x="5682996" y="2468880"/>
            <a:ext cx="822960" cy="777240"/>
          </a:xfrm>
          <a:prstGeom prst="rect">
            <a:avLst/>
          </a:prstGeom>
          <a:solidFill>
            <a:srgbClr val="C2410C">
              <a:alpha val="22000"/>
            </a:srgbClr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0" name="line"/>
          <p:cNvSpPr/>
          <p:nvPr/>
        </p:nvSpPr>
        <p:spPr>
          <a:xfrm>
            <a:off x="6094476" y="2514600"/>
            <a:ext cx="0" cy="685800"/>
          </a:xfrm>
          <a:prstGeom prst="line">
            <a:avLst/>
          </a:prstGeom>
          <a:noFill/>
          <a:ln w="28575">
            <a:solidFill>
              <a:srgbClr val="1C2F66"/>
            </a:solidFill>
            <a:prstDash val="solid"/>
          </a:ln>
        </p:spPr>
      </p:sp>
      <p:sp>
        <p:nvSpPr>
          <p:cNvPr id="31" name="line"/>
          <p:cNvSpPr/>
          <p:nvPr/>
        </p:nvSpPr>
        <p:spPr>
          <a:xfrm>
            <a:off x="6094476" y="2514600"/>
            <a:ext cx="1394460" cy="0"/>
          </a:xfrm>
          <a:prstGeom prst="line">
            <a:avLst/>
          </a:prstGeom>
          <a:noFill/>
          <a:ln w="28575">
            <a:solidFill>
              <a:srgbClr val="1C2F66"/>
            </a:solidFill>
            <a:prstDash val="solid"/>
          </a:ln>
        </p:spPr>
      </p:sp>
      <p:sp>
        <p:nvSpPr>
          <p:cNvPr id="32" name="line"/>
          <p:cNvSpPr/>
          <p:nvPr/>
        </p:nvSpPr>
        <p:spPr>
          <a:xfrm>
            <a:off x="5682996" y="2377440"/>
            <a:ext cx="822960" cy="0"/>
          </a:xfrm>
          <a:prstGeom prst="line">
            <a:avLst/>
          </a:prstGeom>
          <a:noFill/>
          <a:ln w="22225">
            <a:solidFill>
              <a:srgbClr val="C2410C"/>
            </a:solidFill>
            <a:prstDash val="solid"/>
            <a:headEnd type="triangle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5682996" y="21762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</a:rPr>
              <a:t>100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17136" y="36576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410C"/>
                </a:solidFill>
              </a:rPr>
              <a:t>100 ps</a:t>
            </a:r>
            <a:endParaRPr lang="en-US" sz="3000" dirty="0"/>
          </a:p>
        </p:txBody>
      </p:sp>
      <p:sp>
        <p:nvSpPr>
          <p:cNvPr id="35" name="Text 33"/>
          <p:cNvSpPr txBox="1"/>
          <p:nvPr/>
        </p:nvSpPr>
        <p:spPr>
          <a:xfrm>
            <a:off x="4517136" y="420624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240"/>
                </a:solidFill>
              </a:rPr>
              <a:t>Skew 60 + Jitter 20 + Margin 20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240"/>
                </a:solidFill>
              </a:rPr>
              <a:t>capture 쪽에서 100을 빼서 보수적으로 계산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240"/>
                </a:solidFill>
              </a:rPr>
              <a:t>Required Time 8400 − 110 − 100</a:t>
            </a:r>
            <a:endParaRPr lang="en-US" sz="1300" dirty="0"/>
          </a:p>
        </p:txBody>
      </p:sp>
      <p:sp>
        <p:nvSpPr>
          <p:cNvPr id="36" name="sdc Uncertainty"/>
          <p:cNvSpPr/>
          <p:nvPr/>
        </p:nvSpPr>
        <p:spPr>
          <a:xfrm>
            <a:off x="4517136" y="5486400"/>
            <a:ext cx="31546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608576" y="54864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2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set_clock_uncertainty -setup 0.1</a:t>
            </a:r>
            <a:endParaRPr lang="en-US" sz="1000" dirty="0"/>
          </a:p>
        </p:txBody>
      </p:sp>
      <p:sp>
        <p:nvSpPr>
          <p:cNvPr id="38" name="card Transition"/>
          <p:cNvSpPr/>
          <p:nvPr/>
        </p:nvSpPr>
        <p:spPr>
          <a:xfrm>
            <a:off x="8119872" y="1463040"/>
            <a:ext cx="3611880" cy="4846320"/>
          </a:xfrm>
          <a:prstGeom prst="rect">
            <a:avLst/>
          </a:prstGeom>
          <a:solidFill>
            <a:srgbClr val="EEF2FA"/>
          </a:solidFill>
          <a:ln w="9525">
            <a:solidFill>
              <a:srgbClr val="D5DDE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348472" y="16002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</a:rPr>
              <a:t>Transition</a:t>
            </a:r>
            <a:pPr indent="0" marL="0">
              <a:buNone/>
            </a:pPr>
            <a:r>
              <a:rPr lang="en-US" sz="1200" dirty="0">
                <a:solidFill>
                  <a:srgbClr val="5D6B8A"/>
                </a:solidFill>
              </a:rPr>
              <a:t>   클록의 기울기</a:t>
            </a:r>
            <a:endParaRPr lang="en-US" sz="1400" dirty="0"/>
          </a:p>
        </p:txBody>
      </p:sp>
      <p:sp>
        <p:nvSpPr>
          <p:cNvPr id="40" name="figure Transition"/>
          <p:cNvSpPr/>
          <p:nvPr/>
        </p:nvSpPr>
        <p:spPr>
          <a:xfrm>
            <a:off x="8348472" y="2148840"/>
            <a:ext cx="31546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solid"/>
          </a:ln>
        </p:spPr>
      </p:sp>
      <p:sp>
        <p:nvSpPr>
          <p:cNvPr id="41" name="line"/>
          <p:cNvSpPr/>
          <p:nvPr/>
        </p:nvSpPr>
        <p:spPr>
          <a:xfrm>
            <a:off x="8531352" y="3200400"/>
            <a:ext cx="914400" cy="0"/>
          </a:xfrm>
          <a:prstGeom prst="line">
            <a:avLst/>
          </a:prstGeom>
          <a:noFill/>
          <a:ln w="28575">
            <a:solidFill>
              <a:srgbClr val="1C2F66"/>
            </a:solidFill>
            <a:prstDash val="solid"/>
          </a:ln>
        </p:spPr>
      </p:sp>
      <p:sp>
        <p:nvSpPr>
          <p:cNvPr id="42" name="line"/>
          <p:cNvSpPr/>
          <p:nvPr/>
        </p:nvSpPr>
        <p:spPr>
          <a:xfrm flipV="1">
            <a:off x="9445752" y="2514600"/>
            <a:ext cx="914400" cy="685800"/>
          </a:xfrm>
          <a:prstGeom prst="line">
            <a:avLst/>
          </a:prstGeom>
          <a:noFill/>
          <a:ln w="28575">
            <a:solidFill>
              <a:srgbClr val="1C2F66"/>
            </a:solidFill>
            <a:prstDash val="solid"/>
          </a:ln>
        </p:spPr>
      </p:sp>
      <p:sp>
        <p:nvSpPr>
          <p:cNvPr id="43" name="line"/>
          <p:cNvSpPr/>
          <p:nvPr/>
        </p:nvSpPr>
        <p:spPr>
          <a:xfrm>
            <a:off x="10360152" y="2514600"/>
            <a:ext cx="960120" cy="0"/>
          </a:xfrm>
          <a:prstGeom prst="line">
            <a:avLst/>
          </a:prstGeom>
          <a:noFill/>
          <a:ln w="28575">
            <a:solidFill>
              <a:srgbClr val="1C2F66"/>
            </a:solidFill>
            <a:prstDash val="solid"/>
          </a:ln>
        </p:spPr>
      </p:sp>
      <p:sp>
        <p:nvSpPr>
          <p:cNvPr id="44" name="line"/>
          <p:cNvSpPr/>
          <p:nvPr/>
        </p:nvSpPr>
        <p:spPr>
          <a:xfrm>
            <a:off x="9445752" y="2377440"/>
            <a:ext cx="0" cy="137160"/>
          </a:xfrm>
          <a:prstGeom prst="line">
            <a:avLst/>
          </a:prstGeom>
          <a:noFill/>
          <a:ln w="12700">
            <a:solidFill>
              <a:srgbClr val="7C3AED"/>
            </a:solidFill>
            <a:prstDash val="dash"/>
          </a:ln>
        </p:spPr>
      </p:sp>
      <p:sp>
        <p:nvSpPr>
          <p:cNvPr id="45" name="line"/>
          <p:cNvSpPr/>
          <p:nvPr/>
        </p:nvSpPr>
        <p:spPr>
          <a:xfrm>
            <a:off x="10360152" y="2377440"/>
            <a:ext cx="0" cy="137160"/>
          </a:xfrm>
          <a:prstGeom prst="line">
            <a:avLst/>
          </a:prstGeom>
          <a:noFill/>
          <a:ln w="12700">
            <a:solidFill>
              <a:srgbClr val="7C3AED"/>
            </a:solidFill>
            <a:prstDash val="dash"/>
          </a:ln>
        </p:spPr>
      </p:sp>
      <p:sp>
        <p:nvSpPr>
          <p:cNvPr id="46" name="line"/>
          <p:cNvSpPr/>
          <p:nvPr/>
        </p:nvSpPr>
        <p:spPr>
          <a:xfrm>
            <a:off x="9445752" y="2423160"/>
            <a:ext cx="914400" cy="0"/>
          </a:xfrm>
          <a:prstGeom prst="line">
            <a:avLst/>
          </a:prstGeom>
          <a:noFill/>
          <a:ln w="22225">
            <a:solidFill>
              <a:srgbClr val="7C3AED"/>
            </a:solidFill>
            <a:prstDash val="solid"/>
            <a:headEnd type="triangle"/>
            <a:tailEnd type="triangle"/>
          </a:ln>
        </p:spPr>
      </p:sp>
      <p:sp>
        <p:nvSpPr>
          <p:cNvPr id="47" name="Text 45"/>
          <p:cNvSpPr txBox="1"/>
          <p:nvPr/>
        </p:nvSpPr>
        <p:spPr>
          <a:xfrm>
            <a:off x="9445752" y="21854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100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8348472" y="36576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</a:rPr>
              <a:t>100 ps</a:t>
            </a:r>
            <a:endParaRPr lang="en-US" sz="3000" dirty="0"/>
          </a:p>
        </p:txBody>
      </p:sp>
      <p:sp>
        <p:nvSpPr>
          <p:cNvPr id="49" name="Text 47"/>
          <p:cNvSpPr txBox="1"/>
          <p:nvPr/>
        </p:nvSpPr>
        <p:spPr>
          <a:xfrm>
            <a:off x="8348472" y="420624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240"/>
                </a:solidFill>
              </a:rPr>
              <a:t>클록 핀 100 (모든 클록 핀 동일)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240"/>
                </a:solidFill>
              </a:rPr>
              <a:t>데이터 경로 셀은 63~276 (툴 계산)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240"/>
                </a:solidFill>
              </a:rPr>
              <a:t>입력 포트는 rise 3317 / fall 1443</a:t>
            </a:r>
            <a:endParaRPr lang="en-US" sz="1300" dirty="0"/>
          </a:p>
        </p:txBody>
      </p:sp>
      <p:sp>
        <p:nvSpPr>
          <p:cNvPr id="50" name="sdc Transition"/>
          <p:cNvSpPr/>
          <p:nvPr/>
        </p:nvSpPr>
        <p:spPr>
          <a:xfrm>
            <a:off x="8348472" y="5486400"/>
            <a:ext cx="31546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439912" y="54864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2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set_clock_transition 0.1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ming Check">
  <a:themeElements>
    <a:clrScheme name="Timing Check">
      <a:dk1>
        <a:srgbClr val="1B2240"/>
      </a:dk1>
      <a:lt1>
        <a:srgbClr val="FFFFFF"/>
      </a:lt1>
      <a:dk2>
        <a:srgbClr val="1C2F66"/>
      </a:dk2>
      <a:lt2>
        <a:srgbClr val="EEF2FA"/>
      </a:lt2>
      <a:accent1>
        <a:srgbClr val="1C2F66"/>
      </a:accent1>
      <a:accent2>
        <a:srgbClr val="2B6CB0"/>
      </a:accent2>
      <a:accent3>
        <a:srgbClr val="2F7D4F"/>
      </a:accent3>
      <a:accent4>
        <a:srgbClr val="C2410C"/>
      </a:accent4>
      <a:accent5>
        <a:srgbClr val="7C3AED"/>
      </a:accent5>
      <a:accent6>
        <a:srgbClr val="0F766E"/>
      </a:accent6>
      <a:hlink>
        <a:srgbClr val="2B6CB0"/>
      </a:hlink>
      <a:folHlink>
        <a:srgbClr val="7C3AED"/>
      </a:folHlink>
    </a:clrScheme>
    <a:fontScheme name="Timing Check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2026-10-26T10:59:04Z</dcterms:created>
  <dcterms:modified xsi:type="dcterms:W3CDTF">2026-10-26T10:59:04Z</dcterms:modified>
</cp:coreProperties>
</file>